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33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79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convertio.co/tr/xlsx-csv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EDBFF2B-454B-24CF-90A6-CA6E6F1C3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4273" y="0"/>
            <a:ext cx="7493128" cy="6637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1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COĞRAFİ BECERİLERİN DİJİTAL DÖNÜŞÜMÜ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A8441F4E-1B37-D166-34B2-4A0EB3F31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67" y="1053084"/>
            <a:ext cx="5396485" cy="5165852"/>
          </a:xfrm>
        </p:spPr>
        <p:txBody>
          <a:bodyPr vert="horz" lIns="91440" tIns="45720" rIns="91440" bIns="45720" rtlCol="0"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Maarif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Tam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Uyum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Bütüncül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Eğitim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just">
              <a:lnSpc>
                <a:spcPct val="110000"/>
              </a:lnSpc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Oyunumuz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yeni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müfredatın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temel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taşları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şu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kavramlar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üzerine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inşa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edilmiştir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>
              <a:lnSpc>
                <a:spcPct val="110000"/>
              </a:lnSpc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Beceri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Temelli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Yaklaşım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Öğrenci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bilgiyi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ezberlemez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izohips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verilerini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kullanarak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analiz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yapar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sentezler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sahada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eyleme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çözümü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koordinat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tespiti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dönüştürür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10000"/>
              </a:lnSpc>
            </a:pP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Anlamlı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Öğrenme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Soyut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kavram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yükselti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eğrileri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Bergama'nın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gerçek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topografyası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"2050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senaryosu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somutlaşır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>
              <a:lnSpc>
                <a:spcPct val="11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Erdem-Değer-Eylem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Çerçevesi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Doğal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çevreyi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koruma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iklim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değişikliği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farkındalığı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vatan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coğrafyasını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tr-T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tanıma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değerleri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oyunun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hikaye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akışına</a:t>
            </a:r>
            <a:r>
              <a:rPr lang="tr-TR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eklenmiştir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7561EE54-21B6-C025-42B5-FE4C768611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34" r="22932" b="-2"/>
          <a:stretch>
            <a:fillRect/>
          </a:stretch>
        </p:blipFill>
        <p:spPr>
          <a:xfrm>
            <a:off x="6027422" y="224535"/>
            <a:ext cx="5574572" cy="5998465"/>
          </a:xfrm>
          <a:prstGeom prst="rect">
            <a:avLst/>
          </a:prstGeom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8817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C4A7D-0C8C-FE76-EFDB-CD3E91376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FFAA5386-38C1-22AA-EF7B-8EFD227A0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01F7049D-ED1A-F6AD-205E-8C6E8BE0E9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4273" y="0"/>
            <a:ext cx="7493128" cy="6637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1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COĞRAFİ BECERİLERİN DİJİTAL DÖNÜŞÜMÜ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0EC694B4-9ABE-CC34-0BDB-6A7C504AD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984" y="888237"/>
            <a:ext cx="5673853" cy="5165852"/>
          </a:xfrm>
        </p:spPr>
        <p:txBody>
          <a:bodyPr vert="horz" lIns="91440" tIns="45720" rIns="91440" bIns="45720" rtlCol="0">
            <a:noAutofit/>
          </a:bodyPr>
          <a:lstStyle/>
          <a:p>
            <a:pPr algn="l"/>
            <a:r>
              <a:rPr lang="tr-TR" b="1" dirty="0"/>
              <a:t>Eğitsel Değer: Mekânsal Düşünme Becerisi</a:t>
            </a:r>
          </a:p>
          <a:p>
            <a:pPr algn="l"/>
            <a:r>
              <a:rPr lang="tr-TR" dirty="0"/>
              <a:t>İzohips Operasyonu, öğrencilere şu 21. yüzyıl yetkinliklerini kazandırır:</a:t>
            </a:r>
          </a:p>
          <a:p>
            <a:pPr algn="l"/>
            <a:r>
              <a:rPr lang="tr-TR" b="1" dirty="0"/>
              <a:t>Görsel-Uzamsal Zekâ:</a:t>
            </a:r>
            <a:r>
              <a:rPr lang="tr-TR" dirty="0"/>
              <a:t> </a:t>
            </a:r>
          </a:p>
          <a:p>
            <a:pPr algn="l"/>
            <a:r>
              <a:rPr lang="tr-TR" dirty="0"/>
              <a:t>İki boyutlu haritalardan üç boyutlu profiller çıkarabilme.</a:t>
            </a:r>
          </a:p>
          <a:p>
            <a:pPr algn="l"/>
            <a:r>
              <a:rPr lang="tr-TR" b="1" dirty="0"/>
              <a:t>Dijital Okuryazarlık:</a:t>
            </a:r>
            <a:r>
              <a:rPr lang="tr-TR" dirty="0"/>
              <a:t> </a:t>
            </a:r>
          </a:p>
          <a:p>
            <a:pPr algn="l"/>
            <a:r>
              <a:rPr lang="tr-TR" dirty="0"/>
              <a:t>Coğrafi Bilgi Sistemleri (CBS) mantığını kavrama.</a:t>
            </a:r>
          </a:p>
          <a:p>
            <a:pPr algn="l"/>
            <a:r>
              <a:rPr lang="tr-TR" b="1" dirty="0"/>
              <a:t>Stratejik Karar Verme:</a:t>
            </a:r>
            <a:r>
              <a:rPr lang="tr-TR" dirty="0"/>
              <a:t> </a:t>
            </a:r>
          </a:p>
          <a:p>
            <a:pPr algn="l"/>
            <a:r>
              <a:rPr lang="tr-TR" dirty="0"/>
              <a:t>Sınırlı ipucu ve zamanla en doğru sonuca </a:t>
            </a:r>
            <a:br>
              <a:rPr lang="tr-TR" dirty="0"/>
            </a:br>
            <a:r>
              <a:rPr lang="tr-TR" dirty="0"/>
              <a:t>ulaşma.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140708D9-D21D-9D5D-0D3C-F87463F21A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34" r="22932" b="-2"/>
          <a:stretch>
            <a:fillRect/>
          </a:stretch>
        </p:blipFill>
        <p:spPr>
          <a:xfrm>
            <a:off x="6027422" y="224535"/>
            <a:ext cx="5574572" cy="5998465"/>
          </a:xfrm>
          <a:prstGeom prst="rect">
            <a:avLst/>
          </a:prstGeom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8216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B83EB-81F9-2309-288C-E4BE759E7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ACEBDE11-D736-42EF-388B-6AC75F231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20E552C-A875-10CC-ACEC-1252D66CE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4273" y="0"/>
            <a:ext cx="7493128" cy="6637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1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COĞRAFİ BECERİLERİN DİJİTAL DÖNÜŞÜMÜ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3FD313D0-2DEC-1CA3-5CF2-6376A8FCD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525" y="577977"/>
            <a:ext cx="5192047" cy="6092698"/>
          </a:xfrm>
        </p:spPr>
        <p:txBody>
          <a:bodyPr vert="horz" lIns="91440" tIns="45720" rIns="91440" bIns="45720" rtlCol="0">
            <a:noAutofit/>
          </a:bodyPr>
          <a:lstStyle/>
          <a:p>
            <a:pPr algn="just"/>
            <a:r>
              <a:rPr lang="tr-TR" b="1" dirty="0"/>
              <a:t>Nasıl Oynatılır?</a:t>
            </a:r>
          </a:p>
          <a:p>
            <a:pPr algn="l"/>
            <a:r>
              <a:rPr lang="tr-TR" b="1" dirty="0"/>
              <a:t>Hazırlık:</a:t>
            </a:r>
            <a:r>
              <a:rPr lang="tr-TR" dirty="0"/>
              <a:t> Excel dosyasına sınıf listenizi kopyalayınız. Dosyadaki eşleştir düğmesine (makrolara izin vermeniz gerekir.) basarak takımları oluşturunuz. Bu listeyi </a:t>
            </a:r>
            <a:r>
              <a:rPr lang="tr-TR" dirty="0" err="1">
                <a:hlinkClick r:id="rId2"/>
              </a:rPr>
              <a:t>csv</a:t>
            </a:r>
            <a:r>
              <a:rPr lang="tr-TR" dirty="0"/>
              <a:t> formatına çevirip karargah.html ye yükleyiniz</a:t>
            </a:r>
            <a:br>
              <a:rPr lang="tr-TR" dirty="0"/>
            </a:br>
            <a:r>
              <a:rPr lang="tr-TR" b="1" dirty="0"/>
              <a:t>Brifing:</a:t>
            </a:r>
            <a:r>
              <a:rPr lang="tr-TR" dirty="0"/>
              <a:t> "</a:t>
            </a:r>
            <a:r>
              <a:rPr lang="tr-TR" dirty="0" err="1"/>
              <a:t>İntro</a:t>
            </a:r>
            <a:r>
              <a:rPr lang="tr-TR" dirty="0"/>
              <a:t> </a:t>
            </a:r>
            <a:r>
              <a:rPr lang="tr-TR" dirty="0" err="1"/>
              <a:t>Video"yu</a:t>
            </a:r>
            <a:r>
              <a:rPr lang="tr-TR" dirty="0"/>
              <a:t> sınıfa izleterek hikaye </a:t>
            </a:r>
            <a:br>
              <a:rPr lang="tr-TR" dirty="0"/>
            </a:br>
            <a:r>
              <a:rPr lang="tr-TR" dirty="0"/>
              <a:t>akışını başlatınız.</a:t>
            </a:r>
            <a:br>
              <a:rPr lang="tr-TR" dirty="0"/>
            </a:br>
            <a:r>
              <a:rPr lang="tr-TR" b="1" dirty="0"/>
              <a:t>Görev Başına: </a:t>
            </a:r>
            <a:r>
              <a:rPr lang="tr-TR" dirty="0"/>
              <a:t>Videodan sonra takımları bilgisayar başına alınız.</a:t>
            </a:r>
            <a:br>
              <a:rPr lang="tr-TR" dirty="0"/>
            </a:br>
            <a:r>
              <a:rPr lang="tr-TR" dirty="0"/>
              <a:t>Öğrencilerin, "Saha Kılavuzu'ndaki </a:t>
            </a:r>
            <a:r>
              <a:rPr lang="tr-TR" dirty="0" err="1"/>
              <a:t>izohipler</a:t>
            </a:r>
            <a:r>
              <a:rPr lang="tr-TR" dirty="0"/>
              <a:t> ile ilgili bilgilerden yararlanarak 10 kritik görevi bitirmesini sağlayınız.</a:t>
            </a:r>
          </a:p>
          <a:p>
            <a:pPr algn="just"/>
            <a:r>
              <a:rPr lang="tr-TR" b="1" dirty="0"/>
              <a:t>Değerlendirme:</a:t>
            </a:r>
            <a:r>
              <a:rPr lang="tr-TR" dirty="0"/>
              <a:t> karargah.html üzerinden gelen anlık verilerle sınıf başarısını analiz ediniz ve "Görev Sonu Raporu" ile süreci taçlandırınız.</a:t>
            </a:r>
            <a:br>
              <a:rPr lang="tr-TR" dirty="0"/>
            </a:br>
            <a:r>
              <a:rPr lang="tr-TR" b="1" dirty="0"/>
              <a:t>NOT: </a:t>
            </a:r>
            <a:r>
              <a:rPr lang="tr-TR" dirty="0" err="1"/>
              <a:t>YEĞİTEK’in</a:t>
            </a:r>
            <a:r>
              <a:rPr lang="tr-TR" dirty="0"/>
              <a:t>  Yenilikçi Sınıfları için hazırlanmıştır.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7C2DD7EA-B0DE-5E3E-DC6B-EB7C861FEC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34" r="22932" b="-2"/>
          <a:stretch>
            <a:fillRect/>
          </a:stretch>
        </p:blipFill>
        <p:spPr>
          <a:xfrm>
            <a:off x="6096000" y="195833"/>
            <a:ext cx="5574572" cy="5998465"/>
          </a:xfrm>
          <a:prstGeom prst="rect">
            <a:avLst/>
          </a:prstGeom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5653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269</Words>
  <Application>Microsoft Office PowerPoint</Application>
  <PresentationFormat>Geniş ekran</PresentationFormat>
  <Paragraphs>19</Paragraphs>
  <Slides>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7" baseType="lpstr">
      <vt:lpstr>Arial</vt:lpstr>
      <vt:lpstr>Calibri</vt:lpstr>
      <vt:lpstr>Neue Haas Grotesk Text Pro</vt:lpstr>
      <vt:lpstr>VanillaVTI</vt:lpstr>
      <vt:lpstr>COĞRAFİ BECERİLERİN DİJİTAL DÖNÜŞÜMÜ</vt:lpstr>
      <vt:lpstr>COĞRAFİ BECERİLERİN DİJİTAL DÖNÜŞÜMÜ</vt:lpstr>
      <vt:lpstr>COĞRAFİ BECERİLERİN DİJİTAL DÖNÜŞÜMÜ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Hasbi</dc:creator>
  <cp:lastModifiedBy>HASBI ERDOGMUS</cp:lastModifiedBy>
  <cp:revision>8</cp:revision>
  <dcterms:created xsi:type="dcterms:W3CDTF">2026-03-11T11:41:44Z</dcterms:created>
  <dcterms:modified xsi:type="dcterms:W3CDTF">2026-03-24T12:47:23Z</dcterms:modified>
</cp:coreProperties>
</file>